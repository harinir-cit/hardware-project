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34" r:id="rId2"/>
    <p:sldMasterId id="2147483722" r:id="rId3"/>
    <p:sldMasterId id="2147483710" r:id="rId4"/>
    <p:sldMasterId id="2147483698" r:id="rId5"/>
    <p:sldMasterId id="2147483686" r:id="rId6"/>
    <p:sldMasterId id="2147483672" r:id="rId7"/>
    <p:sldMasterId id="2147483660" r:id="rId8"/>
  </p:sldMasterIdLst>
  <p:notesMasterIdLst>
    <p:notesMasterId r:id="rId30"/>
  </p:notesMasterIdLst>
  <p:sldIdLst>
    <p:sldId id="256" r:id="rId9"/>
    <p:sldId id="298" r:id="rId10"/>
    <p:sldId id="299" r:id="rId11"/>
    <p:sldId id="300" r:id="rId12"/>
    <p:sldId id="301" r:id="rId13"/>
    <p:sldId id="302" r:id="rId14"/>
    <p:sldId id="303" r:id="rId15"/>
    <p:sldId id="307" r:id="rId16"/>
    <p:sldId id="304" r:id="rId17"/>
    <p:sldId id="308" r:id="rId18"/>
    <p:sldId id="309" r:id="rId19"/>
    <p:sldId id="305" r:id="rId20"/>
    <p:sldId id="306" r:id="rId21"/>
    <p:sldId id="310" r:id="rId22"/>
    <p:sldId id="317" r:id="rId23"/>
    <p:sldId id="311" r:id="rId24"/>
    <p:sldId id="318" r:id="rId25"/>
    <p:sldId id="319" r:id="rId26"/>
    <p:sldId id="312" r:id="rId27"/>
    <p:sldId id="313" r:id="rId28"/>
    <p:sldId id="31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MBEDDED PROGRAMMING FINAL REVIEW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CE4F2295-6AEF-4787-F327-B5B333959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1D313A2-745B-DE31-A14C-6DC7B4B06C71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4038600" y="5927834"/>
            <a:ext cx="4138448" cy="779671"/>
          </a:xfrm>
        </p:spPr>
        <p:txBody>
          <a:bodyPr/>
          <a:lstStyle>
            <a:lvl1pPr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EMBEDDED PROGRAMMING FINAL REVIEW PPT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64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03858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1525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BEDDED PROGRAMMING FINAL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F508EA8F-B4E2-3C42-A5CC-2F45DACAE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69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9B24C2D6-F41B-05C4-DCA3-B404E0D4E3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3C5703-7AC8-2BA1-393D-CD09AC701454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446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30A23F64-2680-225F-FB9F-D400C3192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00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2" descr="Startup 20">
            <a:extLst>
              <a:ext uri="{FF2B5EF4-FFF2-40B4-BE49-F238E27FC236}">
                <a16:creationId xmlns:a16="http://schemas.microsoft.com/office/drawing/2014/main" id="{DBD96398-B0AB-F6F6-A8C3-8504654B8A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4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96D74072-F32F-6E6F-2F24-CABF556F60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8F2886BC-5857-A5E2-083E-FBF0705B55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16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Startup 20">
            <a:extLst>
              <a:ext uri="{FF2B5EF4-FFF2-40B4-BE49-F238E27FC236}">
                <a16:creationId xmlns:a16="http://schemas.microsoft.com/office/drawing/2014/main" id="{303214BA-6D8A-0649-717D-080981390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8528EC7E-42E1-E14A-977A-7187EE77BF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0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231E13D4-D8BF-FF2C-E90B-3AA52F08E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63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9ABC2DC-8FE1-32D1-AB55-46D5EB11C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66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75BEE5D-F035-7E6F-5722-CC1C455EDE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37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19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22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53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89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972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7381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635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711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496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6696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4F4B8-EF2B-44C6-9C81-BFD7498BDD65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629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1301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080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297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7521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2651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919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4133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0391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8092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1731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4382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0275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5279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4427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0522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6109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7695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1589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4486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6723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1115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5B7-5B18-4A7F-A2C6-D20F9DCB5A3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0938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9557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1095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0383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5567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2431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7233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2910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472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587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7446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7869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169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90839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1411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1704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0513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6836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3965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6789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11809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2260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08C31-D125-4D96-BDF3-C62BF88AD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22180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87798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83173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08016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95764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8793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61713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5657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1998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6015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70487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31649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39704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7178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22156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15328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349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90683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42964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47280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05543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08140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55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EMBEDDED PROGRAMMING FINAL REVIEW PPT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601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EMBEDDED PROGRAMMING FINAL REVIEW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DC68C-CD53-45F2-AF58-F86169BF67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7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121D2-599D-4E19-9030-0590002B33F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EMBEDDED PROGRAMMING FINAL REVIEW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0BEC0-E5AD-4B95-B1C3-D6E28293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7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EMBEDDED PROGRAMMING FINAL REVIEW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3ACC-C645-4304-85D6-508ECC968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173A2-78FA-4498-A4F6-DA77E6160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14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EMBEDDED PROGRAMMING FINAL REVIEW PPT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08C31-D125-4D96-BDF3-C62BF88ADF2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35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EMBEDDED PROGRAMMING FINAL REVIEW PPT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6F8EF-6815-4242-9AD0-F1F2CA634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56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EMBEDDED PROGRAMMING FINAL REVIEW PPT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C2D7B-29B8-4D4C-8FE0-B90DB9ADB8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35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</a:p>
          <a:p>
            <a:r>
              <a:rPr lang="en-US" sz="2800" dirty="0">
                <a:solidFill>
                  <a:srgbClr val="FF0000"/>
                </a:solidFill>
              </a:rPr>
              <a:t>EMBEDDED PROGRAMMING  </a:t>
            </a:r>
          </a:p>
          <a:p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26F17E-A98B-B6DC-057C-8546ECF7AE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49C6C6-75B3-A59D-487F-F67AC5CE7967}"/>
              </a:ext>
            </a:extLst>
          </p:cNvPr>
          <p:cNvSpPr txBox="1"/>
          <p:nvPr/>
        </p:nvSpPr>
        <p:spPr>
          <a:xfrm>
            <a:off x="838200" y="3150657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i="0" dirty="0">
                <a:latin typeface="Times New Roman"/>
                <a:cs typeface="Times New Roman"/>
              </a:rPr>
              <a:t>WATER TURBIDITY MONITORING SYSTEM USING ARDUINO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FE3F3CE-0A38-5B04-A5E0-FC851690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571" y="4415141"/>
            <a:ext cx="443706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000000"/>
                </a:solidFill>
                <a:latin typeface="Times New Roman"/>
                <a:cs typeface="Times New Roman"/>
              </a:rPr>
              <a:t>Supervisor</a:t>
            </a:r>
          </a:p>
          <a:p>
            <a:pPr marL="0" indent="0" algn="r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b="0" i="0" dirty="0">
                <a:latin typeface="Times New Roman"/>
                <a:cs typeface="Times New Roman"/>
              </a:rPr>
              <a:t>Mr. K. Madhavan</a:t>
            </a:r>
          </a:p>
          <a:p>
            <a:pPr marL="0" indent="0" algn="r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PBL In-charge: Mr. Muthupandi G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A147CFF-E830-BA67-DABF-02B8AF3A1693}"/>
              </a:ext>
            </a:extLst>
          </p:cNvPr>
          <p:cNvSpPr txBox="1">
            <a:spLocks/>
          </p:cNvSpPr>
          <p:nvPr/>
        </p:nvSpPr>
        <p:spPr>
          <a:xfrm>
            <a:off x="665974" y="4415141"/>
            <a:ext cx="4562669" cy="23875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000000"/>
                </a:solidFill>
                <a:latin typeface="Times New Roman"/>
                <a:cs typeface="Times New Roman"/>
              </a:rPr>
              <a:t>Presentation by</a:t>
            </a:r>
            <a:endParaRPr lang="en-IN" sz="1800" b="0" i="0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1800" b="0" i="0" dirty="0">
                <a:latin typeface="Times New Roman"/>
                <a:cs typeface="Times New Roman"/>
              </a:rPr>
              <a:t>Harini R (24CS0298)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en-IN" sz="1800" b="0" i="0" dirty="0">
              <a:latin typeface="Times New Roman"/>
              <a:cs typeface="Times New Roman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3C155FE-8E1F-5493-5BFD-9E9E1B54EE9F}"/>
              </a:ext>
            </a:extLst>
          </p:cNvPr>
          <p:cNvSpPr txBox="1">
            <a:spLocks/>
          </p:cNvSpPr>
          <p:nvPr/>
        </p:nvSpPr>
        <p:spPr>
          <a:xfrm>
            <a:off x="3782328" y="6017551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PROGRAMMING FINAL REVIEW PPT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9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EDFB-9D67-1544-8DCF-2EA05B7B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BDFD-C889-2BA2-AF99-5AE9671A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07361"/>
            <a:ext cx="10515600" cy="4951278"/>
          </a:xfrm>
        </p:spPr>
        <p:txBody>
          <a:bodyPr>
            <a:normAutofit fontScale="5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&amp; Research Gap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Background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Components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Design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Design &amp; Prototype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&amp; Performance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Conclusion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961286" y="6171683"/>
            <a:ext cx="48734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0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9AA21A-54F0-4716-29D9-ECF7E9AF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BC16-1F6B-7190-668A-D7B311670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000"/>
            <a:ext cx="9400000" cy="4750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Turbidity</a:t>
            </a:r>
            <a:r>
              <a:rPr lang="en-IN" sz="2000" b="0" i="0" dirty="0">
                <a:latin typeface="Times New Roman"/>
                <a:cs typeface="Times New Roman"/>
              </a:rPr>
              <a:t> (cloudiness of water) is a key early indicator of water quality.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Suspended particles scatter or block light — the more particles, the higher the turbidity, measured in </a:t>
            </a:r>
            <a:r>
              <a:rPr lang="en-IN" sz="2000" b="1" i="0" dirty="0">
                <a:latin typeface="Times New Roman"/>
                <a:cs typeface="Times New Roman"/>
              </a:rPr>
              <a:t>NTU</a:t>
            </a:r>
            <a:r>
              <a:rPr lang="en-IN" sz="2000" b="0" i="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Most households have </a:t>
            </a:r>
            <a:r>
              <a:rPr lang="en-IN" sz="2000" b="1" i="0" dirty="0">
                <a:latin typeface="Times New Roman"/>
                <a:cs typeface="Times New Roman"/>
              </a:rPr>
              <a:t>no quick, low-cost way</a:t>
            </a:r>
            <a:r>
              <a:rPr lang="en-IN" sz="2000" b="0" i="0" dirty="0">
                <a:latin typeface="Times New Roman"/>
                <a:cs typeface="Times New Roman"/>
              </a:rPr>
              <a:t> to check water turbidity.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This project builds a </a:t>
            </a:r>
            <a:r>
              <a:rPr lang="en-IN" sz="2000" b="1" i="0" dirty="0">
                <a:latin typeface="Times New Roman"/>
                <a:cs typeface="Times New Roman"/>
              </a:rPr>
              <a:t>low-cost standalone embedded system</a:t>
            </a:r>
            <a:r>
              <a:rPr lang="en-IN" sz="2000" b="0" i="0" dirty="0">
                <a:latin typeface="Times New Roman"/>
                <a:cs typeface="Times New Roman"/>
              </a:rPr>
              <a:t>: an analog turbidity sensor read by an </a:t>
            </a:r>
            <a:r>
              <a:rPr lang="en-IN" sz="2000" b="1" i="0" dirty="0">
                <a:latin typeface="Times New Roman"/>
                <a:cs typeface="Times New Roman"/>
              </a:rPr>
              <a:t>Arduino UNO</a:t>
            </a:r>
            <a:r>
              <a:rPr lang="en-IN" sz="2000" b="0" i="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Firmware converts the sensor voltage to an estimated NTU value, compares it with a </a:t>
            </a:r>
            <a:r>
              <a:rPr lang="en-IN" sz="2000" b="1" i="0" dirty="0">
                <a:latin typeface="Times New Roman"/>
                <a:cs typeface="Times New Roman"/>
              </a:rPr>
              <a:t>50 NTU</a:t>
            </a:r>
            <a:r>
              <a:rPr lang="en-IN" sz="2000" b="0" i="0" dirty="0">
                <a:latin typeface="Times New Roman"/>
                <a:cs typeface="Times New Roman"/>
              </a:rPr>
              <a:t> threshold, and shows a Safe / Unsafe verdict on a </a:t>
            </a:r>
            <a:r>
              <a:rPr lang="en-IN" sz="2000" b="1" i="0" dirty="0">
                <a:latin typeface="Times New Roman"/>
                <a:cs typeface="Times New Roman"/>
              </a:rPr>
              <a:t>16×2 I2C LCD</a:t>
            </a:r>
            <a:r>
              <a:rPr lang="en-IN" sz="2000" b="0" i="0" dirty="0">
                <a:latin typeface="Times New Roman"/>
                <a:cs typeface="Times New Roman"/>
              </a:rPr>
              <a:t> and the Serial Monitor every 2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32078" y="6311900"/>
            <a:ext cx="49503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8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F2552A-DD7E-C870-2848-05C452A8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B22B-6F5D-B030-3C63-4F787F896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000"/>
            <a:ext cx="4750000" cy="4750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Problem Statement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Laboratory testing:</a:t>
            </a:r>
            <a:r>
              <a:rPr lang="en-IN" sz="1800" b="0" i="0" dirty="0">
                <a:latin typeface="Times New Roman"/>
                <a:cs typeface="Times New Roman"/>
              </a:rPr>
              <a:t> accurate (nephelometry, EPA 180.1) but results take days and each test costs money.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Visual inspection:</a:t>
            </a:r>
            <a:r>
              <a:rPr lang="en-IN" sz="1800" b="0" i="0" dirty="0">
                <a:latin typeface="Times New Roman"/>
                <a:cs typeface="Times New Roman"/>
              </a:rPr>
              <a:t> instant and free, but subjective — water above safe turbidity can still look clear.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Portable handheld meters:</a:t>
            </a:r>
            <a:r>
              <a:rPr lang="en-IN" sz="1800" b="0" i="0" dirty="0">
                <a:latin typeface="Times New Roman"/>
                <a:cs typeface="Times New Roman"/>
              </a:rPr>
              <a:t> costly (₹5,000–20,000) and need manual testing each time.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No continuous monitoring and no automatic verdict a non-technical user can read.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3174" y="6311900"/>
            <a:ext cx="572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PROGRAMMING FINAL REVIEW PPT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Objectives"/>
          <p:cNvSpPr txBox="1"/>
          <p:nvPr/>
        </p:nvSpPr>
        <p:spPr>
          <a:xfrm>
            <a:off x="5800000" y="1400000"/>
            <a:ext cx="4450000" cy="4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Objectives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Build a </a:t>
            </a:r>
            <a:r>
              <a:rPr lang="en-IN" sz="1800" b="1" i="0" dirty="0">
                <a:latin typeface="Times New Roman"/>
                <a:cs typeface="Times New Roman"/>
              </a:rPr>
              <a:t>low-cost standalone device</a:t>
            </a:r>
            <a:r>
              <a:rPr lang="en-IN" sz="1800" b="0" i="0" dirty="0">
                <a:latin typeface="Times New Roman"/>
                <a:cs typeface="Times New Roman"/>
              </a:rPr>
              <a:t> that continuously measures turbidity.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Convert sensor voltage to estimated NTU in firmware and give an automatic </a:t>
            </a:r>
            <a:r>
              <a:rPr lang="en-IN" sz="1800" b="1" i="0" dirty="0">
                <a:latin typeface="Times New Roman"/>
                <a:cs typeface="Times New Roman"/>
              </a:rPr>
              <a:t>Safe / Unsafe</a:t>
            </a:r>
            <a:r>
              <a:rPr lang="en-IN" sz="1800" b="0" i="0" dirty="0">
                <a:latin typeface="Times New Roman"/>
                <a:cs typeface="Times New Roman"/>
              </a:rPr>
              <a:t> verdict (configurable 50 NTU threshold).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Show the result on a 16×2 I2C LCD and log ADC, voltage and NTU on the Serial Monitor.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Keep the build compact, portable and </a:t>
            </a:r>
            <a:r>
              <a:rPr lang="en-IN" sz="1800" b="1" i="0" dirty="0">
                <a:latin typeface="Times New Roman"/>
                <a:cs typeface="Times New Roman"/>
              </a:rPr>
              <a:t>under ₹1,600</a:t>
            </a:r>
            <a:r>
              <a:rPr lang="en-IN" sz="1800" b="0" i="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35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B05E14-EA18-75E4-82E3-E9F711D0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11AE-698A-DA77-2583-697C35776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000"/>
            <a:ext cx="9400000" cy="4750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A self-contained device that </a:t>
            </a:r>
            <a:r>
              <a:rPr lang="en-IN" sz="2000" b="1" i="0" dirty="0">
                <a:latin typeface="Times New Roman"/>
                <a:cs typeface="Times New Roman"/>
              </a:rPr>
              <a:t>continuously measures turbidity</a:t>
            </a:r>
            <a:r>
              <a:rPr lang="en-IN" sz="2000" b="0" i="0" dirty="0">
                <a:latin typeface="Times New Roman"/>
                <a:cs typeface="Times New Roman"/>
              </a:rPr>
              <a:t> and gives an </a:t>
            </a:r>
            <a:r>
              <a:rPr lang="en-IN" sz="2000" b="1" i="0" dirty="0">
                <a:latin typeface="Times New Roman"/>
                <a:cs typeface="Times New Roman"/>
              </a:rPr>
              <a:t>automatic Safe / Unsafe verdict</a:t>
            </a:r>
            <a:r>
              <a:rPr lang="en-IN" sz="2000" b="0" i="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Arduino UNO samples the analog sensor on </a:t>
            </a:r>
            <a:r>
              <a:rPr lang="en-IN" sz="2000" b="1" i="0" dirty="0">
                <a:latin typeface="Times New Roman"/>
                <a:cs typeface="Times New Roman"/>
              </a:rPr>
              <a:t>A0 every 2 seconds</a:t>
            </a:r>
            <a:r>
              <a:rPr lang="en-IN" sz="2000" b="0" i="0" dirty="0">
                <a:latin typeface="Times New Roman"/>
                <a:cs typeface="Times New Roman"/>
              </a:rPr>
              <a:t> and converts voltage to estimated NTU in firmware.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Verdict and NTU are shown on the </a:t>
            </a:r>
            <a:r>
              <a:rPr lang="en-IN" sz="2000" b="1" i="0" dirty="0">
                <a:latin typeface="Times New Roman"/>
                <a:cs typeface="Times New Roman"/>
              </a:rPr>
              <a:t>16×2 I2C LCD</a:t>
            </a:r>
            <a:r>
              <a:rPr lang="en-IN" sz="2000" b="0" i="0" dirty="0">
                <a:latin typeface="Times New Roman"/>
                <a:cs typeface="Times New Roman"/>
              </a:rPr>
              <a:t>; every reading (ADC, voltage, NTU) is also logged on the </a:t>
            </a:r>
            <a:r>
              <a:rPr lang="en-IN" sz="2000" b="1" i="0" dirty="0">
                <a:latin typeface="Times New Roman"/>
                <a:cs typeface="Times New Roman"/>
              </a:rPr>
              <a:t>Serial Monitor</a:t>
            </a:r>
            <a:r>
              <a:rPr lang="en-IN" sz="2000" b="0" i="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Threshold (50 NTU) is configurable in code; compact, portable build costing under ₹1,600.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Reports turbidity only — it indicates “no visible particulate contamination”, not guaranteed potability.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4026" y="6311900"/>
            <a:ext cx="51042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8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5523DE-006A-6D21-7A1B-81100D67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2FBF-3C19-FADB-A0F2-4D2D31489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000"/>
            <a:ext cx="4750000" cy="4750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Aim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To design and build a </a:t>
            </a:r>
            <a:r>
              <a:rPr lang="en-IN" sz="2000" b="1" i="0" dirty="0">
                <a:latin typeface="Times New Roman"/>
                <a:cs typeface="Times New Roman"/>
              </a:rPr>
              <a:t>low-cost, standalone embedded system</a:t>
            </a:r>
            <a:r>
              <a:rPr lang="en-IN" sz="2000" b="0" i="0" dirty="0">
                <a:latin typeface="Times New Roman"/>
                <a:cs typeface="Times New Roman"/>
              </a:rPr>
              <a:t> that continuously measures water turbidity using an Arduino UNO and gives an instant on-device </a:t>
            </a:r>
            <a:r>
              <a:rPr lang="en-IN" sz="2000" b="1" i="0" dirty="0">
                <a:latin typeface="Times New Roman"/>
                <a:cs typeface="Times New Roman"/>
              </a:rPr>
              <a:t>Safe / Unsafe</a:t>
            </a:r>
            <a:r>
              <a:rPr lang="en-IN" sz="2000" b="0" i="0" dirty="0">
                <a:latin typeface="Times New Roman"/>
                <a:cs typeface="Times New Roman"/>
              </a:rPr>
              <a:t> verdict.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0982" y="6311900"/>
            <a:ext cx="572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PROGRAMMING FINAL REVIEW PPT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Scope"/>
          <p:cNvSpPr txBox="1"/>
          <p:nvPr/>
        </p:nvSpPr>
        <p:spPr>
          <a:xfrm>
            <a:off x="5800000" y="1400000"/>
            <a:ext cx="4450000" cy="4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Scope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Turbidity measurement only (analog sensor, 0–5 V, 10-bit ADC).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Continuous sampling every 2 seconds for household-level use.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Indicates “no visible particulate contamination”, not guaranteed potability.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Absolute NTU accuracy depends on per-sensor calibration (next step).</a:t>
            </a:r>
          </a:p>
        </p:txBody>
      </p:sp>
    </p:spTree>
    <p:extLst>
      <p:ext uri="{BB962C8B-B14F-4D97-AF65-F5344CB8AC3E}">
        <p14:creationId xmlns:p14="http://schemas.microsoft.com/office/powerpoint/2010/main" val="113397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8A2C7-ECE5-50A2-EA22-8CB925FA9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F0263-EAE1-004B-AFE4-F952EC819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000"/>
            <a:ext cx="9400000" cy="4750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Kori &amp; Rajashekarappa (2022) [1]:</a:t>
            </a:r>
            <a:r>
              <a:rPr lang="en-IN" sz="1800" b="0" i="0" dirty="0">
                <a:latin typeface="Times New Roman"/>
                <a:cs typeface="Times New Roman"/>
              </a:rPr>
              <a:t> turbidity can be assessed from light scattered or blocked by suspended particles — the principle used here.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Bankar et al. (2026) [2]:</a:t>
            </a:r>
            <a:r>
              <a:rPr lang="en-IN" sz="1800" b="0" i="0" dirty="0">
                <a:latin typeface="Times New Roman"/>
                <a:cs typeface="Times New Roman"/>
              </a:rPr>
              <a:t> Arduino UNO system that classifies water into four turbidity bands (clean to heavily contaminated).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Ramadhan, Hidayat et al. (2020) [3]:</a:t>
            </a:r>
            <a:r>
              <a:rPr lang="en-IN" sz="1800" b="0" i="0" dirty="0">
                <a:latin typeface="Times New Roman"/>
                <a:cs typeface="Times New Roman"/>
              </a:rPr>
              <a:t> Arduino UNO turbidity meter with LED/light sensor and LCD — same low-cost hardware combination as this prototype.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Mukta et al. (2021) [4]; Chettri (2023) [6]:</a:t>
            </a:r>
            <a:r>
              <a:rPr lang="en-IN" sz="1800" b="0" i="0" dirty="0">
                <a:latin typeface="Times New Roman"/>
                <a:cs typeface="Times New Roman"/>
              </a:rPr>
              <a:t> multi-sensor and IoT/cloud water monitors — more capable, but costlier and more complex.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Research gap:</a:t>
            </a:r>
            <a:r>
              <a:rPr lang="en-IN" sz="1800" b="0" i="0" dirty="0">
                <a:latin typeface="Times New Roman"/>
                <a:cs typeface="Times New Roman"/>
              </a:rPr>
              <a:t> existing options are either expensive or complex; a simple, always-on, low-cost device with an instant on-device verdict is still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32078" y="6311900"/>
            <a:ext cx="51042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35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dirty="0"/>
              <a:t>Technical Background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000"/>
            <a:ext cx="9400000" cy="4750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Sensing principle:</a:t>
            </a:r>
            <a:r>
              <a:rPr lang="en-IN" sz="1800" b="0" i="0" dirty="0">
                <a:latin typeface="Times New Roman"/>
                <a:cs typeface="Times New Roman"/>
              </a:rPr>
              <a:t> an IR LED shines through the water sample; suspended particles scatter or block the light, so the phototransistor output voltage changes with cloudiness.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Unit:</a:t>
            </a:r>
            <a:r>
              <a:rPr lang="en-IN" sz="1800" b="0" i="0" dirty="0">
                <a:latin typeface="Times New Roman"/>
                <a:cs typeface="Times New Roman"/>
              </a:rPr>
              <a:t> NTU (nephelometric turbidity unit); laboratory reference method is nephelometry (EPA 180.1).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Acquisition:</a:t>
            </a:r>
            <a:r>
              <a:rPr lang="en-IN" sz="1800" b="0" i="0" dirty="0">
                <a:latin typeface="Times New Roman"/>
                <a:cs typeface="Times New Roman"/>
              </a:rPr>
              <a:t> analog sensor output (0–5 V) read on A0 by the Arduino’s 10-bit ADC (0–1023).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Processing:</a:t>
            </a:r>
            <a:r>
              <a:rPr lang="en-IN" sz="1800" b="0" i="0" dirty="0">
                <a:latin typeface="Times New Roman"/>
                <a:cs typeface="Times New Roman"/>
              </a:rPr>
              <a:t> ADC → voltage → NTU using a calibration equation; negative NTU is clamped to 0.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1" i="0" dirty="0">
                <a:latin typeface="Times New Roman"/>
                <a:cs typeface="Times New Roman"/>
              </a:rPr>
              <a:t>Decision &amp; output:</a:t>
            </a:r>
            <a:r>
              <a:rPr lang="en-IN" sz="1800" b="0" i="0" dirty="0">
                <a:latin typeface="Times New Roman"/>
                <a:cs typeface="Times New Roman"/>
              </a:rPr>
              <a:t> compare with the 50 NTU threshold; verdict on the I2C LCD (A4 SDA, A5 SCL) and Serial Monitor at 9600 baud.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22748" y="6311900"/>
            <a:ext cx="572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PROGRAMMING FINAL REVIEW PPT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286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62F20F-996C-75D3-233A-2CF65D06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479"/>
            <a:ext cx="10515600" cy="1720506"/>
          </a:xfrm>
        </p:spPr>
        <p:txBody>
          <a:bodyPr>
            <a:normAutofit fontScale="90000"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 Components </a:t>
            </a:r>
            <a:br>
              <a:rPr lang="en-IN" dirty="0"/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F7F3-3CB7-3DCB-8E90-B99710E23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000"/>
            <a:ext cx="5000000" cy="4200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Hardware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Arduino UNO</a:t>
            </a:r>
            <a:r>
              <a:rPr lang="en-IN" sz="2000" b="0" i="0" dirty="0">
                <a:latin typeface="Times New Roman"/>
                <a:cs typeface="Times New Roman"/>
              </a:rPr>
              <a:t> (ATmega328P) — controller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Analog turbidity sensor</a:t>
            </a:r>
            <a:r>
              <a:rPr lang="en-IN" sz="2000" b="0" i="0" dirty="0">
                <a:latin typeface="Times New Roman"/>
                <a:cs typeface="Times New Roman"/>
              </a:rPr>
              <a:t> — probe (IR LED + phototransistor) + signal board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16×2 LCD with I2C backpack</a:t>
            </a:r>
            <a:r>
              <a:rPr lang="en-IN" sz="2000" b="0" i="0" dirty="0">
                <a:latin typeface="Times New Roman"/>
                <a:cs typeface="Times New Roman"/>
              </a:rPr>
              <a:t> — display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Jumper wires and USB cable (5 V power, serial)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Transparent plastic enclosure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4878" y="6395038"/>
            <a:ext cx="5335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Software"/>
          <p:cNvSpPr txBox="1"/>
          <p:nvPr/>
        </p:nvSpPr>
        <p:spPr>
          <a:xfrm>
            <a:off x="6100000" y="1900000"/>
            <a:ext cx="49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Software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Arduino IDE</a:t>
            </a:r>
            <a:r>
              <a:rPr lang="en-IN" sz="2000" b="0" i="0" dirty="0">
                <a:latin typeface="Times New Roman"/>
                <a:cs typeface="Times New Roman"/>
              </a:rPr>
              <a:t> 2.3.10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Embedded C</a:t>
            </a:r>
            <a:r>
              <a:rPr lang="en-IN" sz="2000" b="0" i="0" dirty="0">
                <a:latin typeface="Times New Roman"/>
                <a:cs typeface="Times New Roman"/>
              </a:rPr>
              <a:t> (Arduino sketch)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LCDIC2</a:t>
            </a:r>
            <a:r>
              <a:rPr lang="en-IN" sz="2000" b="0" i="0" dirty="0">
                <a:latin typeface="Times New Roman"/>
                <a:cs typeface="Times New Roman"/>
              </a:rPr>
              <a:t> I2C LCD library (Helder Rodrigues)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Serial Monitor</a:t>
            </a:r>
            <a:r>
              <a:rPr lang="en-IN" sz="2000" b="0" i="0" dirty="0">
                <a:latin typeface="Times New Roman"/>
                <a:cs typeface="Times New Roman"/>
              </a:rPr>
              <a:t> at 9600 baud for ADC, voltage and NTU logging</a:t>
            </a:r>
          </a:p>
        </p:txBody>
      </p:sp>
    </p:spTree>
    <p:extLst>
      <p:ext uri="{BB962C8B-B14F-4D97-AF65-F5344CB8AC3E}">
        <p14:creationId xmlns:p14="http://schemas.microsoft.com/office/powerpoint/2010/main" val="146247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/>
              <a:t>Methodology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0000" y="1400000"/>
            <a:ext cx="5500000" cy="4750000"/>
          </a:xfrm>
        </p:spPr>
        <p:txBody>
          <a:bodyPr>
            <a:normAutofit/>
          </a:bodyPr>
          <a:lstStyle/>
          <a:p>
            <a:pPr marL="400050" indent="-400050">
              <a:lnSpc>
                <a:spcPct val="10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IN" sz="1900" b="0" i="0" dirty="0">
                <a:latin typeface="Times New Roman"/>
                <a:cs typeface="Times New Roman"/>
              </a:rPr>
              <a:t>Initialize LCD and Serial (9600 baud)</a:t>
            </a:r>
          </a:p>
          <a:p>
            <a:pPr marL="400050" indent="-400050">
              <a:lnSpc>
                <a:spcPct val="10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IN" sz="1900" b="0" i="0" dirty="0">
                <a:latin typeface="Times New Roman"/>
                <a:cs typeface="Times New Roman"/>
              </a:rPr>
              <a:t>Read analog value on A0</a:t>
            </a:r>
          </a:p>
          <a:p>
            <a:pPr marL="400050" indent="-400050">
              <a:lnSpc>
                <a:spcPct val="10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IN" sz="1900" b="0" i="0" dirty="0">
                <a:latin typeface="Times New Roman"/>
                <a:cs typeface="Times New Roman"/>
              </a:rPr>
              <a:t>Convert ADC → voltage → NTU</a:t>
            </a:r>
          </a:p>
          <a:p>
            <a:pPr marL="400050" indent="-400050">
              <a:lnSpc>
                <a:spcPct val="10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IN" sz="1900" b="0" i="0" dirty="0">
                <a:latin typeface="Times New Roman"/>
                <a:cs typeface="Times New Roman"/>
              </a:rPr>
              <a:t>Clamp negative NTU to 0</a:t>
            </a:r>
          </a:p>
          <a:p>
            <a:pPr marL="400050" indent="-400050">
              <a:lnSpc>
                <a:spcPct val="10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IN" sz="1900" b="0" i="0" dirty="0">
                <a:latin typeface="Times New Roman"/>
                <a:cs typeface="Times New Roman"/>
              </a:rPr>
              <a:t>Compare with 50 NTU threshold</a:t>
            </a:r>
          </a:p>
          <a:p>
            <a:pPr marL="400050" indent="-400050">
              <a:lnSpc>
                <a:spcPct val="10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IN" sz="1900" b="0" i="0" dirty="0">
                <a:latin typeface="Times New Roman"/>
                <a:cs typeface="Times New Roman"/>
              </a:rPr>
              <a:t>Show verdict on LCD and Serial</a:t>
            </a:r>
          </a:p>
          <a:p>
            <a:pPr marL="400050" indent="-400050">
              <a:lnSpc>
                <a:spcPct val="10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IN" sz="1900" b="0" i="0" dirty="0">
                <a:latin typeface="Times New Roman"/>
                <a:cs typeface="Times New Roman"/>
              </a:rPr>
              <a:t>Wait 2 s and repeat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3477" y="6404977"/>
            <a:ext cx="51042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" name="Flow chart" descr="Flow chart of the turbidity monitoring firmw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000" y="1450000"/>
            <a:ext cx="3335473" cy="4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6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/>
              <a:t>Logical Design 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50000"/>
            <a:ext cx="10400000" cy="900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700"/>
              </a:spcBef>
              <a:buNone/>
            </a:pPr>
            <a:r>
              <a:rPr lang="en-IN" sz="1800" b="0" i="0" dirty="0">
                <a:latin typeface="Times New Roman"/>
                <a:cs typeface="Times New Roman"/>
              </a:rPr>
              <a:t>Five-layer data flow: </a:t>
            </a:r>
            <a:r>
              <a:rPr lang="en-IN" sz="1800" b="1" i="0" dirty="0">
                <a:latin typeface="Times New Roman"/>
                <a:cs typeface="Times New Roman"/>
              </a:rPr>
              <a:t>sensing</a:t>
            </a:r>
            <a:r>
              <a:rPr lang="en-IN" sz="1800" b="0" i="0" dirty="0">
                <a:latin typeface="Times New Roman"/>
                <a:cs typeface="Times New Roman"/>
              </a:rPr>
              <a:t> (analog 0–5 V) → </a:t>
            </a:r>
            <a:r>
              <a:rPr lang="en-IN" sz="1800" b="1" i="0" dirty="0">
                <a:latin typeface="Times New Roman"/>
                <a:cs typeface="Times New Roman"/>
              </a:rPr>
              <a:t>acquisition</a:t>
            </a:r>
            <a:r>
              <a:rPr lang="en-IN" sz="1800" b="0" i="0" dirty="0">
                <a:latin typeface="Times New Roman"/>
                <a:cs typeface="Times New Roman"/>
              </a:rPr>
              <a:t> (10-bit ADC) → </a:t>
            </a:r>
            <a:r>
              <a:rPr lang="en-IN" sz="1800" b="1" i="0" dirty="0">
                <a:latin typeface="Times New Roman"/>
                <a:cs typeface="Times New Roman"/>
              </a:rPr>
              <a:t>processing</a:t>
            </a:r>
            <a:r>
              <a:rPr lang="en-IN" sz="1800" b="0" i="0" dirty="0">
                <a:latin typeface="Times New Roman"/>
                <a:cs typeface="Times New Roman"/>
              </a:rPr>
              <a:t> (voltage → NTU) → </a:t>
            </a:r>
            <a:r>
              <a:rPr lang="en-IN" sz="1800" b="1" i="0" dirty="0">
                <a:latin typeface="Times New Roman"/>
                <a:cs typeface="Times New Roman"/>
              </a:rPr>
              <a:t>decision</a:t>
            </a:r>
            <a:r>
              <a:rPr lang="en-IN" sz="1800" b="0" i="0" dirty="0">
                <a:latin typeface="Times New Roman"/>
                <a:cs typeface="Times New Roman"/>
              </a:rPr>
              <a:t> (NTU vs. threshold) → </a:t>
            </a:r>
            <a:r>
              <a:rPr lang="en-IN" sz="1800" b="1" i="0" dirty="0">
                <a:latin typeface="Times New Roman"/>
                <a:cs typeface="Times New Roman"/>
              </a:rPr>
              <a:t>presentation</a:t>
            </a:r>
            <a:r>
              <a:rPr lang="en-IN" sz="1800" b="0" i="0" dirty="0">
                <a:latin typeface="Times New Roman"/>
                <a:cs typeface="Times New Roman"/>
              </a:rPr>
              <a:t> (LCD + Serial + alert).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3539" y="6311900"/>
            <a:ext cx="572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PROGRAMMING FINAL REVIEW PPT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" name="Logical design" descr="Logical design data flow and processing lay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0" y="1750000"/>
            <a:ext cx="10000000" cy="310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2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3EE1D2-B273-DF0C-5304-A3CB9ED4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BED5-A124-2853-21A8-DA47BBEFE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50000"/>
            <a:ext cx="10400000" cy="800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700"/>
              </a:spcBef>
              <a:buNone/>
            </a:pPr>
            <a:r>
              <a:rPr lang="en-IN" sz="1800" b="0" i="0" dirty="0">
                <a:latin typeface="Times New Roman"/>
                <a:cs typeface="Times New Roman"/>
              </a:rPr>
              <a:t>A 5 V USB supply powers the </a:t>
            </a:r>
            <a:r>
              <a:rPr lang="en-IN" sz="1800" b="1" i="0" dirty="0">
                <a:latin typeface="Times New Roman"/>
                <a:cs typeface="Times New Roman"/>
              </a:rPr>
              <a:t>Arduino UNO (ATmega328P)</a:t>
            </a:r>
            <a:r>
              <a:rPr lang="en-IN" sz="1800" b="0" i="0" dirty="0">
                <a:latin typeface="Times New Roman"/>
                <a:cs typeface="Times New Roman"/>
              </a:rPr>
              <a:t>, which reads the turbidity sensor and drives the 16×2 I2C LCD; readings are also sent to the Serial Monitor on the PC.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3417" y="6311900"/>
            <a:ext cx="572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PROGRAMMING FINAL REVIEW PPT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6" name="Block diagram" descr="Block diagram of the turbidity monitoring syst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1750000"/>
            <a:ext cx="9000000" cy="264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78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A44DF4-F332-7FCB-D182-25AAC29F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br>
              <a:rPr lang="en-IN" dirty="0"/>
            </a:br>
            <a:r>
              <a:rPr lang="en-IN" b="1" dirty="0"/>
              <a:t>Circuit Diagram </a:t>
            </a:r>
            <a:br>
              <a:rPr lang="en-IN" dirty="0"/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981165" y="6311900"/>
            <a:ext cx="51812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7" name="Circuit diagram" descr="Circuit and wiring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900000"/>
            <a:ext cx="6500000" cy="3191138"/>
          </a:xfrm>
          <a:prstGeom prst="rect">
            <a:avLst/>
          </a:prstGeom>
        </p:spPr>
      </p:pic>
      <p:graphicFrame>
        <p:nvGraphicFramePr>
          <p:cNvPr id="208" name="Table"/>
          <p:cNvGraphicFramePr>
            <a:graphicFrameLocks noGrp="1"/>
          </p:cNvGraphicFramePr>
          <p:nvPr/>
        </p:nvGraphicFramePr>
        <p:xfrm>
          <a:off x="7500000" y="2100000"/>
          <a:ext cx="4100000" cy="3120000"/>
        </p:xfrm>
        <a:graphic>
          <a:graphicData uri="http://schemas.openxmlformats.org/drawingml/2006/table">
            <a:tbl>
              <a:tblPr firstRow="1" bandRow="1"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Arduino pin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Connected to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5V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Sensor VCC, LCD VCC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GND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Sensor GND, LCD GND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A0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Sensor OUT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A4 (SDA)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LCD SDA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A5 (SCL)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LCD SCL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869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0000" y="1900000"/>
            <a:ext cx="4500000" cy="3900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Arduino UNO</a:t>
            </a:r>
            <a:r>
              <a:rPr lang="en-IN" sz="2000" b="0" i="0" dirty="0">
                <a:latin typeface="Times New Roman"/>
                <a:cs typeface="Times New Roman"/>
              </a:rPr>
              <a:t> (ATmega328P) — controller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Analog turbidity sensor</a:t>
            </a:r>
            <a:r>
              <a:rPr lang="en-IN" sz="2000" b="0" i="0" dirty="0">
                <a:latin typeface="Times New Roman"/>
                <a:cs typeface="Times New Roman"/>
              </a:rPr>
              <a:t> — probe + signal conditioning board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1" i="0" dirty="0">
                <a:latin typeface="Times New Roman"/>
                <a:cs typeface="Times New Roman"/>
              </a:rPr>
              <a:t>16×2 LCD with I2C backpack</a:t>
            </a:r>
            <a:r>
              <a:rPr lang="en-IN" sz="2000" b="0" i="0" dirty="0">
                <a:latin typeface="Times New Roman"/>
                <a:cs typeface="Times New Roman"/>
              </a:rPr>
              <a:t> — display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Jumper wires and USB cable (5 V power, serial)</a:t>
            </a:r>
          </a:p>
          <a:p>
            <a:pPr marL="285750" indent="-285750">
              <a:lnSpc>
                <a:spcPct val="100000"/>
              </a:lnSpc>
              <a:spcBef>
                <a:spcPts val="900"/>
              </a:spcBef>
              <a:buFont typeface="Arial"/>
              <a:buChar char="•"/>
            </a:pPr>
            <a:r>
              <a:rPr lang="en-IN" sz="2000" b="0" i="0" dirty="0">
                <a:latin typeface="Times New Roman"/>
                <a:cs typeface="Times New Roman"/>
              </a:rPr>
              <a:t>Transparent plastic enclosure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638697"/>
            <a:ext cx="64381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Design &amp; Prototype 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4756" y="6335404"/>
            <a:ext cx="572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PROGRAMMING FINAL REVIEW PPT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" name="Physical design" descr="Physical design devices and connec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2000000"/>
            <a:ext cx="6100000" cy="273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97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638697"/>
            <a:ext cx="64381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4756" y="6335404"/>
            <a:ext cx="572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PROGRAMMING FINAL REVIEW PPT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0" name="Prototype" descr="Complete assembled prototy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1750000"/>
            <a:ext cx="4800000" cy="3600000"/>
          </a:xfrm>
          <a:prstGeom prst="rect">
            <a:avLst/>
          </a:prstGeom>
        </p:spPr>
      </p:pic>
      <p:pic>
        <p:nvPicPr>
          <p:cNvPr id="211" name="LCD output" descr="LCD showing live NTU reading and verdi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00" y="1750000"/>
            <a:ext cx="4800000" cy="3600000"/>
          </a:xfrm>
          <a:prstGeom prst="rect">
            <a:avLst/>
          </a:prstGeom>
        </p:spPr>
      </p:pic>
      <p:sp>
        <p:nvSpPr>
          <p:cNvPr id="212" name="Caption 1"/>
          <p:cNvSpPr txBox="1"/>
          <p:nvPr/>
        </p:nvSpPr>
        <p:spPr>
          <a:xfrm>
            <a:off x="900000" y="5410000"/>
            <a:ext cx="48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b="0" i="0" dirty="0">
                <a:latin typeface="Times New Roman"/>
                <a:cs typeface="Times New Roman"/>
              </a:rPr>
              <a:t>Complete assembled prototype</a:t>
            </a:r>
          </a:p>
        </p:txBody>
      </p:sp>
      <p:sp>
        <p:nvSpPr>
          <p:cNvPr id="213" name="Caption 2"/>
          <p:cNvSpPr txBox="1"/>
          <p:nvPr/>
        </p:nvSpPr>
        <p:spPr>
          <a:xfrm>
            <a:off x="6500000" y="5410000"/>
            <a:ext cx="48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b="0" i="0" dirty="0">
                <a:latin typeface="Times New Roman"/>
                <a:cs typeface="Times New Roman"/>
              </a:rPr>
              <a:t>LCD showing live NTU reading and verdict</a:t>
            </a:r>
          </a:p>
        </p:txBody>
      </p:sp>
    </p:spTree>
    <p:extLst>
      <p:ext uri="{BB962C8B-B14F-4D97-AF65-F5344CB8AC3E}">
        <p14:creationId xmlns:p14="http://schemas.microsoft.com/office/powerpoint/2010/main" val="1909697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IN" b="1" dirty="0"/>
              <a:t>Experimental Results &amp; Performance Analysis 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250000"/>
            <a:ext cx="5000000" cy="800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b="0" i="0" dirty="0">
                <a:latin typeface="Times New Roman"/>
                <a:cs typeface="Times New Roman"/>
              </a:rPr>
              <a:t>Clean tap water. Voltage std. dev. </a:t>
            </a:r>
            <a:r>
              <a:rPr lang="en-IN" sz="1600" b="1" i="0" dirty="0">
                <a:latin typeface="Times New Roman"/>
                <a:cs typeface="Times New Roman"/>
              </a:rPr>
              <a:t>±0.042 V</a:t>
            </a:r>
            <a:r>
              <a:rPr lang="en-IN" sz="1600" b="0" i="0" dirty="0">
                <a:latin typeface="Times New Roman"/>
                <a:cs typeface="Times New Roman"/>
              </a:rPr>
              <a:t> — the signal is stable and repeatable.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2382" y="6414917"/>
            <a:ext cx="49503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4" name="Table"/>
          <p:cNvGraphicFramePr>
            <a:graphicFrameLocks noGrp="1"/>
          </p:cNvGraphicFramePr>
          <p:nvPr/>
        </p:nvGraphicFramePr>
        <p:xfrm>
          <a:off x="838200" y="1600000"/>
          <a:ext cx="5000000" cy="3500000"/>
        </p:xfrm>
        <a:graphic>
          <a:graphicData uri="http://schemas.openxmlformats.org/drawingml/2006/table">
            <a:tbl>
              <a:tblPr firstRow="1" bandRow="1"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Sample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ADC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Voltage (V)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Computed NTU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346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1.69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2153.77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362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1.77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2299.64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353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1.73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2219.27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369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1.80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2359.14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358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1.75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2264.45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Mean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357.6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1.748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2259.25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15" name="Result charts" descr="Raw ADC readings and measured sensor voltage across samp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00" y="2000000"/>
            <a:ext cx="5400000" cy="1875038"/>
          </a:xfrm>
          <a:prstGeom prst="rect">
            <a:avLst/>
          </a:prstGeom>
        </p:spPr>
      </p:pic>
      <p:sp>
        <p:nvSpPr>
          <p:cNvPr id="216" name="Calibration note"/>
          <p:cNvSpPr/>
          <p:nvPr/>
        </p:nvSpPr>
        <p:spPr>
          <a:xfrm>
            <a:off x="6100000" y="4250000"/>
            <a:ext cx="5400000" cy="145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137160" tIns="68580" rIns="137160" bIns="6858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500" b="1" i="0" dirty="0">
                <a:latin typeface="Times New Roman"/>
                <a:cs typeface="Times New Roman"/>
              </a:rPr>
              <a:t>Calibration mismatch:</a:t>
            </a:r>
            <a:r>
              <a:rPr lang="en-IN" sz="1500" b="0" i="0" dirty="0">
                <a:latin typeface="Times New Roman"/>
                <a:cs typeface="Times New Roman"/>
              </a:rPr>
              <a:t> the equation assumes ≈4 V for clear water, but this sensor reads 1.69–1.80 V, so NTU values and the Safe/Unsafe verdict are </a:t>
            </a:r>
            <a:r>
              <a:rPr lang="en-IN" sz="1500" b="1" i="0" dirty="0">
                <a:latin typeface="Times New Roman"/>
                <a:cs typeface="Times New Roman"/>
              </a:rPr>
              <a:t>not yet validated</a:t>
            </a:r>
            <a:r>
              <a:rPr lang="en-IN" sz="1500" b="0" i="0" dirty="0">
                <a:latin typeface="Times New Roman"/>
                <a:cs typeface="Times New Roman"/>
              </a:rPr>
              <a:t>. Re-calibration is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3463513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/>
                <a:cs typeface="Times New Roman"/>
              </a:rPr>
              <a:t>Testing &amp; Simulation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0000"/>
            <a:ext cx="4300000" cy="4300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600" b="0" i="0" dirty="0">
                <a:latin typeface="Times New Roman"/>
                <a:cs typeface="Times New Roman"/>
              </a:rPr>
              <a:t>A circuit simulator (Wokwi / Tinkercad) was </a:t>
            </a:r>
            <a:r>
              <a:rPr lang="en-IN" sz="1600" b="1" i="0" dirty="0">
                <a:latin typeface="Times New Roman"/>
                <a:cs typeface="Times New Roman"/>
              </a:rPr>
              <a:t>not used</a:t>
            </a:r>
            <a:r>
              <a:rPr lang="en-IN" sz="1600" b="0" i="0" dirty="0">
                <a:latin typeface="Times New Roman"/>
                <a:cs typeface="Times New Roman"/>
              </a:rPr>
              <a:t> for the final build.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600" b="0" i="0" dirty="0">
                <a:latin typeface="Times New Roman"/>
                <a:cs typeface="Times New Roman"/>
              </a:rPr>
              <a:t>The sensor’s real optical behaviour cannot be reproduced in a simulator, so the design was tested directly on </a:t>
            </a:r>
            <a:r>
              <a:rPr lang="en-IN" sz="1600" b="1" i="0" dirty="0">
                <a:latin typeface="Times New Roman"/>
                <a:cs typeface="Times New Roman"/>
              </a:rPr>
              <a:t>physical hardware</a:t>
            </a:r>
            <a:r>
              <a:rPr lang="en-IN" sz="1600" b="0" i="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600" b="0" i="0" dirty="0">
                <a:latin typeface="Times New Roman"/>
                <a:cs typeface="Times New Roman"/>
              </a:rPr>
              <a:t>Serial Monitor output from the hardware test is shown here.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600" b="0" i="0" dirty="0">
                <a:latin typeface="Times New Roman"/>
                <a:cs typeface="Times New Roman"/>
              </a:rPr>
              <a:t>All functional test cases passed except absolute NTU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2382" y="6414917"/>
            <a:ext cx="49503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7" name="Serial monitor" descr="Live Serial Monitor output in Arduino 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1900000"/>
            <a:ext cx="6100000" cy="3199727"/>
          </a:xfrm>
          <a:prstGeom prst="rect">
            <a:avLst/>
          </a:prstGeom>
        </p:spPr>
      </p:pic>
      <p:sp>
        <p:nvSpPr>
          <p:cNvPr id="218" name="Caption"/>
          <p:cNvSpPr txBox="1"/>
          <p:nvPr/>
        </p:nvSpPr>
        <p:spPr>
          <a:xfrm>
            <a:off x="5400000" y="5159727"/>
            <a:ext cx="61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Live Serial Monitor output</a:t>
            </a:r>
          </a:p>
        </p:txBody>
      </p:sp>
    </p:spTree>
    <p:extLst>
      <p:ext uri="{BB962C8B-B14F-4D97-AF65-F5344CB8AC3E}">
        <p14:creationId xmlns:p14="http://schemas.microsoft.com/office/powerpoint/2010/main" val="3463513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/>
                <a:cs typeface="Times New Roman"/>
              </a:rPr>
              <a:t>Comparison with Existing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2382" y="6414917"/>
            <a:ext cx="49503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9" name="Table"/>
          <p:cNvGraphicFramePr>
            <a:graphicFrameLocks noGrp="1"/>
          </p:cNvGraphicFramePr>
          <p:nvPr/>
        </p:nvGraphicFramePr>
        <p:xfrm>
          <a:off x="838200" y="1700000"/>
          <a:ext cx="10700000" cy="3500000"/>
        </p:xfrm>
        <a:graphic>
          <a:graphicData uri="http://schemas.openxmlformats.org/drawingml/2006/table">
            <a:tbl>
              <a:tblPr firstRow="1" bandRow="1"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Parameter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Lab Nephelometer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Portable Meter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 System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Approx. cost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₹50,000+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₹5,000–20,000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₹960–1,600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Very high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Moderate (needs calibration)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Portability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Continuous monitoring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 (every 2 s)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Operator skill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Moderate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Household suitable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Limited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anchor="ctr">
                    <a:lnL w="9525">
                      <a:solidFill>
                        <a:srgbClr val="B4C7E7"/>
                      </a:solidFill>
                    </a:lnL>
                    <a:lnR w="9525">
                      <a:solidFill>
                        <a:srgbClr val="B4C7E7"/>
                      </a:solidFill>
                    </a:lnR>
                    <a:lnT w="9525">
                      <a:solidFill>
                        <a:srgbClr val="B4C7E7"/>
                      </a:solidFill>
                    </a:lnT>
                    <a:lnB w="9525">
                      <a:solidFill>
                        <a:srgbClr val="B4C7E7"/>
                      </a:solidFill>
                    </a:lnB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0" name="Summary"/>
          <p:cNvSpPr txBox="1"/>
          <p:nvPr/>
        </p:nvSpPr>
        <p:spPr>
          <a:xfrm>
            <a:off x="838200" y="5300000"/>
            <a:ext cx="107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600" b="1" i="0" dirty="0">
                <a:latin typeface="Times New Roman"/>
                <a:cs typeface="Times New Roman"/>
              </a:rPr>
              <a:t>Strength:</a:t>
            </a:r>
            <a:r>
              <a:rPr lang="en-IN" sz="1600" b="0" i="0" dirty="0">
                <a:latin typeface="Times New Roman"/>
                <a:cs typeface="Times New Roman"/>
              </a:rPr>
              <a:t> low cost with continuous monitoring.  </a:t>
            </a:r>
            <a:r>
              <a:rPr lang="en-IN" sz="1600" b="1" i="0" dirty="0">
                <a:latin typeface="Times New Roman"/>
                <a:cs typeface="Times New Roman"/>
              </a:rPr>
              <a:t>Limitation:</a:t>
            </a:r>
            <a:r>
              <a:rPr lang="en-IN" sz="1600" b="0" i="0" dirty="0">
                <a:latin typeface="Times New Roman"/>
                <a:cs typeface="Times New Roman"/>
              </a:rPr>
              <a:t> absolute accuracy depends on per-sensor calibration.</a:t>
            </a:r>
          </a:p>
        </p:txBody>
      </p:sp>
    </p:spTree>
    <p:extLst>
      <p:ext uri="{BB962C8B-B14F-4D97-AF65-F5344CB8AC3E}">
        <p14:creationId xmlns:p14="http://schemas.microsoft.com/office/powerpoint/2010/main" val="3463513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/>
              <a:t>Cost Estimation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00000"/>
            <a:ext cx="10400000" cy="180000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Prototype build: Arduino UNO, analog turbidity sensor, 16×2 I2C LCD, jumper wires, USB cable and enclosure.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Total cost </a:t>
            </a:r>
            <a:r>
              <a:rPr lang="en-IN" sz="1800" b="1" i="0" dirty="0">
                <a:latin typeface="Times New Roman"/>
                <a:cs typeface="Times New Roman"/>
              </a:rPr>
              <a:t>₹960–1,600</a:t>
            </a:r>
            <a:r>
              <a:rPr lang="en-IN" sz="1800" b="0" i="0" dirty="0">
                <a:latin typeface="Times New Roman"/>
                <a:cs typeface="Times New Roman"/>
              </a:rPr>
              <a:t> — a fraction of a portable handheld meter, with continuous monitoring built 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3965" y="6404978"/>
            <a:ext cx="5335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Cost card 1"/>
          <p:cNvSpPr/>
          <p:nvPr/>
        </p:nvSpPr>
        <p:spPr>
          <a:xfrm>
            <a:off x="838200" y="1900000"/>
            <a:ext cx="3250000" cy="19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0" i="0" dirty="0">
                <a:solidFill>
                  <a:srgbClr val="595959"/>
                </a:solidFill>
                <a:latin typeface="Times New Roman"/>
                <a:cs typeface="Times New Roman"/>
              </a:rPr>
              <a:t>Lab nephelometer</a:t>
            </a:r>
          </a:p>
          <a:p>
            <a:pPr marL="0" indent="0" algn="ctr">
              <a:lnSpc>
                <a:spcPct val="100000"/>
              </a:lnSpc>
              <a:spcBef>
                <a:spcPts val="900"/>
              </a:spcBef>
              <a:buNone/>
            </a:pPr>
            <a:r>
              <a:rPr lang="en-IN" sz="3000" b="1" i="0" dirty="0">
                <a:solidFill>
                  <a:srgbClr val="595959"/>
                </a:solidFill>
                <a:latin typeface="Times New Roman"/>
                <a:cs typeface="Times New Roman"/>
              </a:rPr>
              <a:t>₹50,000+</a:t>
            </a:r>
          </a:p>
        </p:txBody>
      </p:sp>
      <p:sp>
        <p:nvSpPr>
          <p:cNvPr id="222" name="Cost card 2"/>
          <p:cNvSpPr/>
          <p:nvPr/>
        </p:nvSpPr>
        <p:spPr>
          <a:xfrm>
            <a:off x="4388200" y="1900000"/>
            <a:ext cx="3250000" cy="19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0" i="0" dirty="0">
                <a:solidFill>
                  <a:srgbClr val="595959"/>
                </a:solidFill>
                <a:latin typeface="Times New Roman"/>
                <a:cs typeface="Times New Roman"/>
              </a:rPr>
              <a:t>Portable meter</a:t>
            </a:r>
          </a:p>
          <a:p>
            <a:pPr marL="0" indent="0" algn="ctr">
              <a:lnSpc>
                <a:spcPct val="100000"/>
              </a:lnSpc>
              <a:spcBef>
                <a:spcPts val="900"/>
              </a:spcBef>
              <a:buNone/>
            </a:pPr>
            <a:r>
              <a:rPr lang="en-IN" sz="3000" b="1" i="0" dirty="0">
                <a:solidFill>
                  <a:srgbClr val="595959"/>
                </a:solidFill>
                <a:latin typeface="Times New Roman"/>
                <a:cs typeface="Times New Roman"/>
              </a:rPr>
              <a:t>₹5,000–20,000</a:t>
            </a:r>
          </a:p>
        </p:txBody>
      </p:sp>
      <p:sp>
        <p:nvSpPr>
          <p:cNvPr id="223" name="Cost card 3"/>
          <p:cNvSpPr/>
          <p:nvPr/>
        </p:nvSpPr>
        <p:spPr>
          <a:xfrm>
            <a:off x="7938200" y="1900000"/>
            <a:ext cx="3250000" cy="19000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 w="12700">
            <a:solidFill>
              <a:srgbClr val="1F4E79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800" b="0" i="0" dirty="0">
                <a:solidFill>
                  <a:srgbClr val="1F4E79"/>
                </a:solidFill>
                <a:latin typeface="Times New Roman"/>
                <a:cs typeface="Times New Roman"/>
              </a:rPr>
              <a:t>Proposed system</a:t>
            </a:r>
          </a:p>
          <a:p>
            <a:pPr marL="0" indent="0" algn="ctr">
              <a:lnSpc>
                <a:spcPct val="100000"/>
              </a:lnSpc>
              <a:spcBef>
                <a:spcPts val="900"/>
              </a:spcBef>
              <a:buNone/>
            </a:pPr>
            <a:r>
              <a:rPr lang="en-IN" sz="3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₹960–1,600</a:t>
            </a:r>
          </a:p>
        </p:txBody>
      </p:sp>
    </p:spTree>
    <p:extLst>
      <p:ext uri="{BB962C8B-B14F-4D97-AF65-F5344CB8AC3E}">
        <p14:creationId xmlns:p14="http://schemas.microsoft.com/office/powerpoint/2010/main" val="2903819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/>
              <a:t>Future Scope &amp; 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000"/>
            <a:ext cx="5000000" cy="4750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Conclusion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A low-cost Arduino turbidity monitor was built, enclosed and tested with real tap water.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The sensor signal is stable and repeatable (1.69–1.80 V, ±0.042 V); all functional tests passed.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Absolute NTU accuracy is </a:t>
            </a:r>
            <a:r>
              <a:rPr lang="en-IN" sz="1800" b="1" i="0" dirty="0">
                <a:latin typeface="Times New Roman"/>
                <a:cs typeface="Times New Roman"/>
              </a:rPr>
              <a:t>not yet validated</a:t>
            </a:r>
            <a:r>
              <a:rPr lang="en-IN" sz="1800" b="0" i="0" dirty="0">
                <a:latin typeface="Times New Roman"/>
                <a:cs typeface="Times New Roman"/>
              </a:rPr>
              <a:t> — the equation assumes ≈4 V for clear water.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Cost of ₹960–1,600 vs ₹5,000–20,000 for portable meters.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3964" y="6414916"/>
            <a:ext cx="59506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Future scope"/>
          <p:cNvSpPr txBox="1"/>
          <p:nvPr/>
        </p:nvSpPr>
        <p:spPr>
          <a:xfrm>
            <a:off x="6100000" y="1400000"/>
            <a:ext cx="4150000" cy="4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i="0" dirty="0">
                <a:solidFill>
                  <a:srgbClr val="1F4E79"/>
                </a:solidFill>
                <a:latin typeface="Times New Roman"/>
                <a:cs typeface="Times New Roman"/>
              </a:rPr>
              <a:t>Future Scope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Sensor-specific calibration (re-calibration is the next step).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IN" sz="1800" b="0" i="0" dirty="0">
                <a:latin typeface="Times New Roman"/>
                <a:cs typeface="Times New Roman"/>
              </a:rPr>
              <a:t>Wireless / IoT logging.</a:t>
            </a:r>
          </a:p>
        </p:txBody>
      </p:sp>
    </p:spTree>
    <p:extLst>
      <p:ext uri="{BB962C8B-B14F-4D97-AF65-F5344CB8AC3E}">
        <p14:creationId xmlns:p14="http://schemas.microsoft.com/office/powerpoint/2010/main" val="1119744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Siragu watermark" descr="Siragu watermark"/>
          <p:cNvPicPr>
            <a:picLocks noChangeAspect="1"/>
          </p:cNvPicPr>
          <p:nvPr userDrawn="1"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1896000" y="2778068"/>
            <a:ext cx="8400000" cy="13018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b="1" dirty="0"/>
              <a:t>References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0000"/>
            <a:ext cx="10300000" cy="4900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[1] S. Kori and Rajashekarappa, “Measurement of Turbidity Using Light Scattering,” Int. Conf. on Sensors and Instrumentation, 2022.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[2] S. Bankar et al., “Arduino-based Water Quality Monitoring System Using Turbidity Sensor,” J. Water Pollution &amp; Purification Research, 2026.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[3] M. Ramadhan, R. Hidayat et al., “Arduino Uno-based Water Turbidity Meter Using LDR and LED Sensors,” J. Physics: Conf. Series, 2020.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[4] S. Mukta et al., “IoT Based Smart Water Quality Monitoring System,” IEEE Conf. Publication / ScienceDirect, 2021.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[6] P. Chettri, “IoT Based Water Quality Monitoring System Using Arduino Uno R3 &amp; NodeMCU ESP8266,” ResearchGate, 2023.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[9] “IoT-Based Water Quality Monitoring System in Philippine Off-Grid Communities,” arXiv:2410.14619, 2024.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[11] DFRobot, “Turbidity Sensor SKU: SEN0189 — Wiki and Datasheet,” wiki.dfrobot.com.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[12] Arduino, “Arduino UNO Rev3 Product Reference,” docs.arduino.cc.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[14] U.S. EPA, “Method 180.1: Determination of Turbidity by Nephelometry,” Rev. 2.0, 1993.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[15] World Health Organization, “Guidelines for Drinking-water Quality,” 4th ed., Geneva.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IN" sz="1500" b="0" i="0" dirty="0">
                <a:latin typeface="Times New Roman"/>
                <a:cs typeface="Times New Roman"/>
              </a:rPr>
              <a:t>[16] Bureau of Indian Standards, “IS 10500:2012 — Drinking Water Specification,” New Delhi.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IN" sz="1500" b="0" i="1" dirty="0">
                <a:latin typeface="Times New Roman"/>
                <a:cs typeface="Times New Roman"/>
              </a:rPr>
              <a:t>Full list of 20 references: see Chapter 13 of the project report.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3660" y="6311900"/>
            <a:ext cx="57198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EMBEDDED PROGRAMMING FINAL REVIEW PPT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72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1854</Words>
  <Application>Microsoft Office PowerPoint</Application>
  <PresentationFormat>Widescreen</PresentationFormat>
  <Paragraphs>233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Office Theme</vt:lpstr>
      <vt:lpstr>6_Custom Design</vt:lpstr>
      <vt:lpstr>5_Custom Design</vt:lpstr>
      <vt:lpstr>4_Custom Design</vt:lpstr>
      <vt:lpstr>3_Custom Design</vt:lpstr>
      <vt:lpstr>2_Custom Design</vt:lpstr>
      <vt:lpstr>1_Custom Design</vt:lpstr>
      <vt:lpstr>Custom Design</vt:lpstr>
      <vt:lpstr>PowerPoint Presentation</vt:lpstr>
      <vt:lpstr> CONTENTS</vt:lpstr>
      <vt:lpstr>Introduction </vt:lpstr>
      <vt:lpstr>Problem Statement  </vt:lpstr>
      <vt:lpstr>Project Description  </vt:lpstr>
      <vt:lpstr>Aim and Scope of the Proposed work </vt:lpstr>
      <vt:lpstr>Literature Survey </vt:lpstr>
      <vt:lpstr>Technical Background  </vt:lpstr>
      <vt:lpstr>Hardware &amp; Software Components   </vt:lpstr>
      <vt:lpstr>Methodology  </vt:lpstr>
      <vt:lpstr>Logical Design  </vt:lpstr>
      <vt:lpstr>Block Diagram Design </vt:lpstr>
      <vt:lpstr> Circuit Diagram   </vt:lpstr>
      <vt:lpstr>PowerPoint Presentation</vt:lpstr>
      <vt:lpstr>PowerPoint Presentation</vt:lpstr>
      <vt:lpstr>Experimental Results &amp; Performance Analysis  </vt:lpstr>
      <vt:lpstr>Testing &amp; Simulation Result</vt:lpstr>
      <vt:lpstr>Comparison with Existing Systems</vt:lpstr>
      <vt:lpstr>Cost Estimation  </vt:lpstr>
      <vt:lpstr>Future Scope &amp; Conclusion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Muthupandi G.</dc:creator>
  <cp:lastModifiedBy>hari ni</cp:lastModifiedBy>
  <cp:revision>68</cp:revision>
  <dcterms:created xsi:type="dcterms:W3CDTF">2024-07-31T06:42:35Z</dcterms:created>
  <dcterms:modified xsi:type="dcterms:W3CDTF">2026-10-28T15:00:38Z</dcterms:modified>
</cp:coreProperties>
</file>